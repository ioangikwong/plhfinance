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7" r:id="rId3"/>
    <p:sldId id="284" r:id="rId4"/>
    <p:sldId id="289" r:id="rId5"/>
    <p:sldId id="303" r:id="rId6"/>
    <p:sldId id="293" r:id="rId7"/>
    <p:sldId id="305" r:id="rId8"/>
    <p:sldId id="256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8683F3-1D1E-BA4C-317F-5BC2F5CB3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011BB56-4073-3EE1-BE3B-0406605E4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CB6947-14F8-9EF9-3138-67037FED9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DFBC-9399-40E5-B145-1BB3291D81A7}" type="datetimeFigureOut">
              <a:rPr lang="fr-CA" smtClean="0"/>
              <a:t>2026-02-16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17759C-B09E-C4BF-E979-1B0936378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9208B9-81CB-FA20-9425-148E5D65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F676-C677-4F8B-BBF4-EBB3CFCF2D7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19412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C947D6-AF65-50C4-04B9-382BFE201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CCFB2C-0D08-37CC-7034-B501EB80C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EF41F3-D2FF-50E4-5BA1-904D2DE84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DFBC-9399-40E5-B145-1BB3291D81A7}" type="datetimeFigureOut">
              <a:rPr lang="fr-CA" smtClean="0"/>
              <a:t>2026-02-16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658DFB-25D3-D4D3-489E-1EBCB4BF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0EF469-4530-EF14-7438-648EF59A5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F676-C677-4F8B-BBF4-EBB3CFCF2D7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99653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A4D20A-BA3E-C7F2-211C-28F56CDE5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DBB521-9225-1F45-77DC-8761B6EA9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B9C443-1615-48BE-CB83-D8046522E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DFBC-9399-40E5-B145-1BB3291D81A7}" type="datetimeFigureOut">
              <a:rPr lang="fr-CA" smtClean="0"/>
              <a:t>2026-02-16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3B11F1-F3B1-867B-8877-2A5258CAA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80D924-40D7-32E4-31F3-BB53EA93A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F676-C677-4F8B-BBF4-EBB3CFCF2D7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843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F5536B-7D98-73FC-F9BD-C99604E40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401C3A-B9B5-581A-9C16-BCA3DAD09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30DBDD-4466-8DA8-BDCC-553620E1C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772431-5196-3B09-B37D-6DCE54644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DFBC-9399-40E5-B145-1BB3291D81A7}" type="datetimeFigureOut">
              <a:rPr lang="fr-CA" smtClean="0"/>
              <a:t>2026-02-16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B06E40-2F1F-4714-468E-39DA6CD5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AF01ED-BF3D-5E96-B6E2-371C35BC5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F676-C677-4F8B-BBF4-EBB3CFCF2D7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2858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A4D645-45C6-805B-40DB-770CEDE0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5E1B8A-56A9-7BA2-EB43-6D2C91530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DBFBFF-6C1B-D184-78BE-B18B4F40F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251A4F-3460-D1D6-29D3-10C6928EA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871CE41-B737-E706-C726-0D3E90B9B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C0CF48-0C05-4002-ED2F-63E13621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DFBC-9399-40E5-B145-1BB3291D81A7}" type="datetimeFigureOut">
              <a:rPr lang="fr-CA" smtClean="0"/>
              <a:t>2026-02-16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52A2347-7AB4-5CB5-F504-C8F56E39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6797A23-ECB8-2DA7-6897-D42404671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F676-C677-4F8B-BBF4-EBB3CFCF2D7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61639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5A70C4-5947-D76B-6665-C7380949C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EEA19C3-09F6-1FC9-1E5C-4459765D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DFBC-9399-40E5-B145-1BB3291D81A7}" type="datetimeFigureOut">
              <a:rPr lang="fr-CA" smtClean="0"/>
              <a:t>2026-02-16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DEECB51-B9C0-2A47-646B-E260963E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9030379-4E92-B64A-731C-2C8449AA3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F676-C677-4F8B-BBF4-EBB3CFCF2D7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8603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091FA0E-1A64-387C-DC51-DA818588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DFBC-9399-40E5-B145-1BB3291D81A7}" type="datetimeFigureOut">
              <a:rPr lang="fr-CA" smtClean="0"/>
              <a:t>2026-02-16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98E706-2DE9-9202-A496-D7800C44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C7A490B-EEA5-397B-7AA3-941AA2F05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F676-C677-4F8B-BBF4-EBB3CFCF2D7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63833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27C0F4-9068-7A0C-93EF-41EBC607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9415EC-5316-778C-07DA-B09FC5BAB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3DD0AAC-A32C-7C57-FF9F-B8A7869DE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08EC1A-23AF-41C7-EEBA-00D179D0B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DFBC-9399-40E5-B145-1BB3291D81A7}" type="datetimeFigureOut">
              <a:rPr lang="fr-CA" smtClean="0"/>
              <a:t>2026-02-16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D0C9640-7BEC-0CCF-C333-420574F7C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C4CA30-5794-E6F0-E5FA-7641F5BE9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F676-C677-4F8B-BBF4-EBB3CFCF2D7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72789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D151DE-1AF5-7637-AB32-BBBBE42A9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96BEAD8-AC23-3B85-1B27-AA98E21FD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0CA9DD-3FD1-39EB-F948-2FAFC7FBF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BA87E5-74F2-D196-F74A-B523E150E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DFBC-9399-40E5-B145-1BB3291D81A7}" type="datetimeFigureOut">
              <a:rPr lang="fr-CA" smtClean="0"/>
              <a:t>2026-02-16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C44E32-CB7D-77A0-55E9-C80441457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F9871E-A9F8-2FDB-09DB-F80C05FE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F676-C677-4F8B-BBF4-EBB3CFCF2D7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20479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D65946-1F12-3620-42E3-8DEB61BD5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3667593-A019-301A-4513-A5AE73212A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B77CF8-75D6-5E61-EC7F-123FD8B6C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DFBC-9399-40E5-B145-1BB3291D81A7}" type="datetimeFigureOut">
              <a:rPr lang="fr-CA" smtClean="0"/>
              <a:t>2026-02-16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5C6A0E-7E68-60C2-9440-EA86366B2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D501B2-9EDE-CE28-1F51-C9AC52DA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F676-C677-4F8B-BBF4-EBB3CFCF2D7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4152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5B73A22-56B0-E7A8-5795-2E13FF4E53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20693F-4662-F2CC-316A-34CD3E8AA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015CF7-231F-36CB-9A95-F84FD5F17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DDFBC-9399-40E5-B145-1BB3291D81A7}" type="datetimeFigureOut">
              <a:rPr lang="fr-CA" smtClean="0"/>
              <a:t>2026-02-16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F68A99-833A-1EC3-E378-FBD95271E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F4A64D-132F-F816-BE2C-002C518CA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F676-C677-4F8B-BBF4-EBB3CFCF2D7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54522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 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CA" noProof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fr-CA" noProof="0"/>
              <a:t>Modifiez les styles du texte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  <a:p>
            <a:pPr lvl="3" rtl="0"/>
            <a:r>
              <a:rPr lang="fr-CA" noProof="0"/>
              <a:t>Quatrième niveau</a:t>
            </a:r>
          </a:p>
          <a:p>
            <a:pPr lvl="4" rtl="0"/>
            <a:r>
              <a:rPr lang="fr-CA" noProof="0"/>
              <a:t>Cinquième niveau</a:t>
            </a:r>
          </a:p>
        </p:txBody>
      </p:sp>
      <p:sp>
        <p:nvSpPr>
          <p:cNvPr id="4" name="Forme libre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CA" noProof="0" dirty="0"/>
          </a:p>
        </p:txBody>
      </p:sp>
      <p:sp>
        <p:nvSpPr>
          <p:cNvPr id="5" name="Forme libre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CA" noProof="0" dirty="0"/>
          </a:p>
        </p:txBody>
      </p:sp>
      <p:sp>
        <p:nvSpPr>
          <p:cNvPr id="6" name="Forme libre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CA" noProof="0" dirty="0"/>
          </a:p>
        </p:txBody>
      </p:sp>
      <p:grpSp>
        <p:nvGrpSpPr>
          <p:cNvPr id="9" name="Groupe 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orme libre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CA" noProof="0" dirty="0">
                <a:latin typeface="+mn-lt"/>
              </a:endParaRPr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CA" noProof="0" dirty="0">
                <a:latin typeface="+mn-lt"/>
              </a:endParaRPr>
            </a:p>
          </p:txBody>
        </p:sp>
      </p:grpSp>
      <p:sp>
        <p:nvSpPr>
          <p:cNvPr id="10" name="Espace réservé de la date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942902EC-716F-47BA-A92C-9D3ACEA0AEBB}" type="datetime1">
              <a:rPr lang="fr-CA" noProof="0" smtClean="0"/>
              <a:t>2026-02-16</a:t>
            </a:fld>
            <a:endParaRPr lang="fr-CA" noProof="0" dirty="0"/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fr-CA" noProof="0" dirty="0"/>
              <a:t>TITRE DE LA PRÉSENTATION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fr-CA" noProof="0"/>
              <a:t>Modifiez les styles du texte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  <a:p>
            <a:pPr lvl="3" rtl="0"/>
            <a:r>
              <a:rPr lang="fr-CA" noProof="0"/>
              <a:t>Quatrième niveau</a:t>
            </a:r>
          </a:p>
          <a:p>
            <a:pPr lvl="4" rtl="0"/>
            <a:r>
              <a:rPr lang="fr-CA" noProof="0"/>
              <a:t>Cinquième niveau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fr-CA" noProof="0"/>
              <a:t>Modifiez les styles du texte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  <a:p>
            <a:pPr lvl="3" rtl="0"/>
            <a:r>
              <a:rPr lang="fr-CA" noProof="0"/>
              <a:t>Quatrième niveau</a:t>
            </a:r>
          </a:p>
          <a:p>
            <a:pPr lvl="4" rtl="0"/>
            <a:r>
              <a:rPr lang="fr-CA" noProof="0"/>
              <a:t>Cinquième niveau</a:t>
            </a: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fr-CA" noProof="0"/>
              <a:t>Modifiez les styles du texte</a:t>
            </a:r>
          </a:p>
          <a:p>
            <a:pPr lvl="1" rtl="0"/>
            <a:r>
              <a:rPr lang="fr-CA" noProof="0"/>
              <a:t>Deuxième niveau</a:t>
            </a:r>
          </a:p>
          <a:p>
            <a:pPr lvl="2" rtl="0"/>
            <a:r>
              <a:rPr lang="fr-CA" noProof="0"/>
              <a:t>Troisième niveau</a:t>
            </a:r>
          </a:p>
          <a:p>
            <a:pPr lvl="3" rtl="0"/>
            <a:r>
              <a:rPr lang="fr-CA" noProof="0"/>
              <a:t>Quatrième niveau</a:t>
            </a:r>
          </a:p>
          <a:p>
            <a:pPr lvl="4" rtl="0"/>
            <a:r>
              <a:rPr lang="fr-CA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72382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80F635-7B4A-2705-494E-203C435B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79C6D6-329A-A5DA-AF20-D75F2F652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1C5BA1-67B7-FA6C-AD18-8A226F3C3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DDFBC-9399-40E5-B145-1BB3291D81A7}" type="datetimeFigureOut">
              <a:rPr lang="fr-CA" smtClean="0"/>
              <a:t>2026-02-16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161373-E9E5-0DDB-9D21-3AAAD6683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2C2705-614A-829B-D88E-3C8FDE6381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16F676-C677-4F8B-BBF4-EBB3CFCF2D7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3539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9F79D2-2222-068B-475C-113A5244E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0999"/>
            <a:ext cx="9779183" cy="4446495"/>
          </a:xfrm>
        </p:spPr>
        <p:txBody>
          <a:bodyPr/>
          <a:lstStyle/>
          <a:p>
            <a:pPr algn="ctr"/>
            <a:r>
              <a:rPr lang="fr-CA" sz="6600" dirty="0"/>
              <a:t>LA RÉALITE</a:t>
            </a:r>
            <a:br>
              <a:rPr lang="fr-CA" sz="6600" dirty="0"/>
            </a:br>
            <a:br>
              <a:rPr lang="fr-CA" sz="6600" dirty="0"/>
            </a:br>
            <a:r>
              <a:rPr lang="fr-CA" sz="6000" dirty="0"/>
              <a:t>La réussite financière dépend a 80% </a:t>
            </a:r>
            <a:br>
              <a:rPr lang="fr-CA" sz="6000" dirty="0"/>
            </a:br>
            <a:r>
              <a:rPr lang="fr-CA" sz="6000" dirty="0"/>
              <a:t>de notre comportement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5B5D06-515F-6E0A-8356-A48E078018D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803550" y="5754901"/>
            <a:ext cx="4663440" cy="381404"/>
          </a:xfrm>
        </p:spPr>
        <p:txBody>
          <a:bodyPr/>
          <a:lstStyle/>
          <a:p>
            <a:r>
              <a:rPr lang="fr-CA" dirty="0"/>
              <a:t>John c. Maxwell</a:t>
            </a:r>
          </a:p>
        </p:txBody>
      </p:sp>
    </p:spTree>
    <p:extLst>
      <p:ext uri="{BB962C8B-B14F-4D97-AF65-F5344CB8AC3E}">
        <p14:creationId xmlns:p14="http://schemas.microsoft.com/office/powerpoint/2010/main" val="3198723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BA52A-8803-4D34-B393-E8AA1A08AC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9ABE6A-9FEA-4803-83F3-0F5F04F71B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194D367-C81D-4A26-80FC-54FC41BA93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0" t="21583" r="19707" b="6283"/>
          <a:stretch/>
        </p:blipFill>
        <p:spPr>
          <a:xfrm>
            <a:off x="839999" y="175351"/>
            <a:ext cx="11061555" cy="657714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9873AA2-C551-A9BB-44DB-0BA607238654}"/>
              </a:ext>
            </a:extLst>
          </p:cNvPr>
          <p:cNvSpPr txBox="1"/>
          <p:nvPr/>
        </p:nvSpPr>
        <p:spPr>
          <a:xfrm>
            <a:off x="8175811" y="445513"/>
            <a:ext cx="363070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CA" sz="3200" b="1" dirty="0"/>
              <a:t> </a:t>
            </a:r>
            <a:r>
              <a:rPr lang="fr-CA" sz="3200" b="1" dirty="0">
                <a:solidFill>
                  <a:schemeClr val="accent1">
                    <a:lumMod val="50000"/>
                  </a:schemeClr>
                </a:solidFill>
              </a:rPr>
              <a:t>réussite financière</a:t>
            </a:r>
          </a:p>
        </p:txBody>
      </p:sp>
    </p:spTree>
    <p:extLst>
      <p:ext uri="{BB962C8B-B14F-4D97-AF65-F5344CB8AC3E}">
        <p14:creationId xmlns:p14="http://schemas.microsoft.com/office/powerpoint/2010/main" val="335239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875FA89-2FC0-235B-D662-28B917810EDD}"/>
              </a:ext>
            </a:extLst>
          </p:cNvPr>
          <p:cNvSpPr txBox="1"/>
          <p:nvPr/>
        </p:nvSpPr>
        <p:spPr>
          <a:xfrm>
            <a:off x="1032607" y="598857"/>
            <a:ext cx="9640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3200" b="1" dirty="0"/>
              <a:t>3 types de services disponibles selon votre besoin</a:t>
            </a:r>
          </a:p>
        </p:txBody>
      </p:sp>
      <p:graphicFrame>
        <p:nvGraphicFramePr>
          <p:cNvPr id="3" name="Espace réservé du contenu 6">
            <a:extLst>
              <a:ext uri="{FF2B5EF4-FFF2-40B4-BE49-F238E27FC236}">
                <a16:creationId xmlns:a16="http://schemas.microsoft.com/office/drawing/2014/main" id="{3EAF0A31-95D6-9020-1746-C5E10A6A5524}"/>
              </a:ext>
            </a:extLst>
          </p:cNvPr>
          <p:cNvGraphicFramePr>
            <a:graphicFrameLocks/>
          </p:cNvGraphicFramePr>
          <p:nvPr/>
        </p:nvGraphicFramePr>
        <p:xfrm>
          <a:off x="253497" y="1484028"/>
          <a:ext cx="11678970" cy="42946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41634">
                  <a:extLst>
                    <a:ext uri="{9D8B030D-6E8A-4147-A177-3AD203B41FA5}">
                      <a16:colId xmlns:a16="http://schemas.microsoft.com/office/drawing/2014/main" val="33677749"/>
                    </a:ext>
                  </a:extLst>
                </a:gridCol>
                <a:gridCol w="3968668">
                  <a:extLst>
                    <a:ext uri="{9D8B030D-6E8A-4147-A177-3AD203B41FA5}">
                      <a16:colId xmlns:a16="http://schemas.microsoft.com/office/drawing/2014/main" val="253397136"/>
                    </a:ext>
                  </a:extLst>
                </a:gridCol>
                <a:gridCol w="3968668">
                  <a:extLst>
                    <a:ext uri="{9D8B030D-6E8A-4147-A177-3AD203B41FA5}">
                      <a16:colId xmlns:a16="http://schemas.microsoft.com/office/drawing/2014/main" val="1994463116"/>
                    </a:ext>
                  </a:extLst>
                </a:gridCol>
              </a:tblGrid>
              <a:tr h="705594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CA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Planification financière</a:t>
                      </a:r>
                    </a:p>
                  </a:txBody>
                  <a:tcPr marL="53610" marR="5361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CA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Gestion de votre patrimoine</a:t>
                      </a:r>
                    </a:p>
                  </a:txBody>
                  <a:tcPr marL="53610" marR="5361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CA" sz="2400" kern="100" dirty="0">
                          <a:effectLst/>
                        </a:rPr>
                        <a:t>Protections  contre les risques      ( assurances)</a:t>
                      </a:r>
                      <a:endParaRPr lang="fr-CA" sz="2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610" marR="53610" marT="0" marB="0"/>
                </a:tc>
                <a:extLst>
                  <a:ext uri="{0D108BD9-81ED-4DB2-BD59-A6C34878D82A}">
                    <a16:rowId xmlns:a16="http://schemas.microsoft.com/office/drawing/2014/main" val="844852666"/>
                  </a:ext>
                </a:extLst>
              </a:tr>
              <a:tr h="1062151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CA" sz="24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Permis: Titre de planificateur financier de l’IQPF</a:t>
                      </a:r>
                    </a:p>
                  </a:txBody>
                  <a:tcPr marL="53610" marR="5361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CA" sz="24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Permis:  Représentant en épargne collective  de l’AMF</a:t>
                      </a:r>
                    </a:p>
                  </a:txBody>
                  <a:tcPr marL="53610" marR="5361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CA" sz="24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Permis:   Conseiller en sécurité financière par l’AMF</a:t>
                      </a:r>
                    </a:p>
                  </a:txBody>
                  <a:tcPr marL="53610" marR="5361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99640"/>
                  </a:ext>
                </a:extLst>
              </a:tr>
              <a:tr h="23695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CA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CA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________________________________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CA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-Honoraires  $110/heure pour mandat complet ou partiel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CA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610" marR="5361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CA" sz="1600" kern="100" dirty="0">
                        <a:effectLst/>
                      </a:endParaRPr>
                    </a:p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CA" sz="1600" kern="100" dirty="0">
                          <a:effectLst/>
                        </a:rPr>
                        <a:t>_____________________________</a:t>
                      </a:r>
                    </a:p>
                    <a:p>
                      <a:pPr marL="0" marR="0" lvl="0" indent="44958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44958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kern="100" dirty="0">
                          <a:effectLst/>
                        </a:rPr>
                        <a:t>-Frais de gestion annuel             </a:t>
                      </a:r>
                    </a:p>
                    <a:p>
                      <a:pPr marL="0" marR="0" lvl="0" indent="44958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600" kern="100" dirty="0">
                          <a:effectLst/>
                        </a:rPr>
                        <a:t>- Versé par le fournisseur</a:t>
                      </a:r>
                      <a:endParaRPr lang="fr-CA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indent="44958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fr-CA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610" marR="5361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</a:pPr>
                      <a:endParaRPr lang="fr-CA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CA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____________________________</a:t>
                      </a:r>
                    </a:p>
                    <a:p>
                      <a:pPr marL="457200">
                        <a:lnSpc>
                          <a:spcPct val="107000"/>
                        </a:lnSpc>
                      </a:pPr>
                      <a:endParaRPr lang="fr-CA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>
                        <a:lnSpc>
                          <a:spcPct val="107000"/>
                        </a:lnSpc>
                      </a:pPr>
                      <a:endParaRPr lang="fr-CA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CA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-Pas de frais</a:t>
                      </a:r>
                    </a:p>
                    <a:p>
                      <a:pPr marL="457200">
                        <a:lnSpc>
                          <a:spcPct val="107000"/>
                        </a:lnSpc>
                      </a:pPr>
                      <a:r>
                        <a:rPr lang="fr-CA" sz="1600" b="0" kern="1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-Commission versé par l’assureur</a:t>
                      </a:r>
                    </a:p>
                    <a:p>
                      <a:pPr marL="457200">
                        <a:lnSpc>
                          <a:spcPct val="107000"/>
                        </a:lnSpc>
                      </a:pPr>
                      <a:endParaRPr lang="fr-CA" sz="1600" b="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610" marR="53610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035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302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961D4-5478-FE31-0411-53FD7AC77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COMMENT JE VOUS ACCOMPAGNE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4C1ED3-6B12-2E44-BEDC-4EDE5740C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9779182" cy="3228785"/>
          </a:xfrm>
        </p:spPr>
        <p:txBody>
          <a:bodyPr/>
          <a:lstStyle/>
          <a:p>
            <a:r>
              <a:rPr lang="fr-FR" sz="2400" dirty="0"/>
              <a:t>On clarifie votre situation et vos projets</a:t>
            </a:r>
          </a:p>
          <a:p>
            <a:r>
              <a:rPr lang="fr-FR" sz="2400" dirty="0"/>
              <a:t>• On bâtit un plan simple et humain</a:t>
            </a:r>
          </a:p>
          <a:p>
            <a:r>
              <a:rPr lang="fr-FR" sz="2400" dirty="0"/>
              <a:t>• Je vous accompagne jusqu'à l'action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Rétroaction et suivi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•Un conseil = démarche réfléchie, professionnelle, personnalisée.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81762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4905F-7896-1DD2-A1E4-F63E4B20D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ED2EA1-4425-427D-5B21-4BC1F8F13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RÉSULTATS POUR VOUS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120DA5-6635-75A7-754B-B14ED7A6F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9779182" cy="2828613"/>
          </a:xfrm>
        </p:spPr>
        <p:txBody>
          <a:bodyPr/>
          <a:lstStyle/>
          <a:p>
            <a:endParaRPr lang="fr-FR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Vision claire de la réalisation de vos objectifs financiers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 Plan concret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 Décisions simples et alignées sur vos objectifs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 Accompagnement professionnel  et indépendant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48106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E0C7E3-603D-5E2F-F7E2-94270F91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Important    a faire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C9E785-7448-6EF1-56E5-42198D84F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CA" dirty="0"/>
              <a:t>Anticiper le cout total $$$</a:t>
            </a:r>
          </a:p>
          <a:p>
            <a:r>
              <a:rPr lang="fr-CA" dirty="0"/>
              <a:t>Montrer ta valeur, pas juste les frais</a:t>
            </a:r>
          </a:p>
          <a:p>
            <a:r>
              <a:rPr lang="fr-CA" dirty="0"/>
              <a:t>Ce que tu fais pour le client</a:t>
            </a:r>
          </a:p>
          <a:p>
            <a:r>
              <a:rPr lang="fr-CA" dirty="0"/>
              <a:t>Alpha et moins risqué pour les fonds avec  logiciel précision</a:t>
            </a:r>
          </a:p>
          <a:p>
            <a:r>
              <a:rPr lang="fr-CA" dirty="0"/>
              <a:t>Equisoft  bilan financier  sans frais</a:t>
            </a:r>
          </a:p>
          <a:p>
            <a:r>
              <a:rPr lang="fr-CA" dirty="0"/>
              <a:t>Plan de retraite</a:t>
            </a:r>
          </a:p>
          <a:p>
            <a:r>
              <a:rPr lang="fr-CA" dirty="0"/>
              <a:t>Mettre l’emphase sur  3Permis   et 2 </a:t>
            </a:r>
            <a:r>
              <a:rPr lang="fr-CA" dirty="0" err="1"/>
              <a:t>bacc</a:t>
            </a:r>
            <a:endParaRPr lang="fr-CA" dirty="0"/>
          </a:p>
          <a:p>
            <a:r>
              <a:rPr lang="fr-CA" dirty="0"/>
              <a:t>Accès aux partenaires</a:t>
            </a:r>
          </a:p>
          <a:p>
            <a:r>
              <a:rPr lang="fr-CA" dirty="0"/>
              <a:t>Services connexes</a:t>
            </a:r>
          </a:p>
          <a:p>
            <a:r>
              <a:rPr lang="fr-CA" dirty="0"/>
              <a:t>Décision moins impulsive et centrer sur votre objectif</a:t>
            </a:r>
          </a:p>
        </p:txBody>
      </p:sp>
    </p:spTree>
    <p:extLst>
      <p:ext uri="{BB962C8B-B14F-4D97-AF65-F5344CB8AC3E}">
        <p14:creationId xmlns:p14="http://schemas.microsoft.com/office/powerpoint/2010/main" val="2090632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D74480FC-1CDB-B36F-A623-090EEF4BF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08" y="854438"/>
            <a:ext cx="9817779" cy="483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235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115569-6A4E-C1CC-D5CC-5AF8ED2906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F7558B-A7D6-C3C6-63AA-00D9C567D9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528461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228</Words>
  <Application>Microsoft Office PowerPoint</Application>
  <PresentationFormat>Grand écran</PresentationFormat>
  <Paragraphs>50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Thème Office</vt:lpstr>
      <vt:lpstr>LA RÉALITE  La réussite financière dépend a 80%  de notre comportement</vt:lpstr>
      <vt:lpstr>Présentation PowerPoint</vt:lpstr>
      <vt:lpstr>Présentation PowerPoint</vt:lpstr>
      <vt:lpstr>COMMENT JE VOUS ACCOMPAGNE</vt:lpstr>
      <vt:lpstr>RÉSULTATS POUR VOUS</vt:lpstr>
      <vt:lpstr>Important    a faire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L-Hamel</dc:creator>
  <cp:lastModifiedBy>Philippe L-Hamel</cp:lastModifiedBy>
  <cp:revision>1</cp:revision>
  <dcterms:created xsi:type="dcterms:W3CDTF">2026-02-16T16:42:39Z</dcterms:created>
  <dcterms:modified xsi:type="dcterms:W3CDTF">2026-02-16T16:46:40Z</dcterms:modified>
</cp:coreProperties>
</file>